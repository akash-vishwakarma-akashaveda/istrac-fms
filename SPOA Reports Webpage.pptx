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4104" r:id="rId3"/>
    <p:sldId id="4105" r:id="rId4"/>
    <p:sldId id="4106" r:id="rId5"/>
    <p:sldId id="4107" r:id="rId6"/>
    <p:sldId id="4108" r:id="rId7"/>
    <p:sldId id="410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56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7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71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5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3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9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24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94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3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82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9306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44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7375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591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20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30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32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DE7A0-DD9B-4318-A829-F0D4F81E78FC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22ED974-0D91-427F-AD92-9AC22708F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76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00F5B0-9354-9484-D302-399C2DCB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129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Georgia" panose="02040502050405020303" pitchFamily="18" charset="0"/>
              </a:rPr>
              <a:t>SPOA Reports Webpage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F467D-2BF7-144E-96E1-84F539871577}"/>
              </a:ext>
            </a:extLst>
          </p:cNvPr>
          <p:cNvSpPr txBox="1"/>
          <p:nvPr/>
        </p:nvSpPr>
        <p:spPr>
          <a:xfrm>
            <a:off x="3136306" y="2341548"/>
            <a:ext cx="5640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Poppins"/>
              </a:rPr>
              <a:t>-Ashish Sharma</a:t>
            </a:r>
          </a:p>
        </p:txBody>
      </p:sp>
    </p:spTree>
    <p:extLst>
      <p:ext uri="{BB962C8B-B14F-4D97-AF65-F5344CB8AC3E}">
        <p14:creationId xmlns:p14="http://schemas.microsoft.com/office/powerpoint/2010/main" val="317070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84B09-3385-FC49-8859-ADE7769A2866}"/>
              </a:ext>
            </a:extLst>
          </p:cNvPr>
          <p:cNvSpPr txBox="1"/>
          <p:nvPr/>
        </p:nvSpPr>
        <p:spPr>
          <a:xfrm>
            <a:off x="762001" y="329579"/>
            <a:ext cx="10668000" cy="6617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7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OBJECTIVES </a:t>
            </a:r>
          </a:p>
        </p:txBody>
      </p:sp>
      <p:sp>
        <p:nvSpPr>
          <p:cNvPr id="4" name="Half Frame 3">
            <a:extLst>
              <a:ext uri="{FF2B5EF4-FFF2-40B4-BE49-F238E27FC236}">
                <a16:creationId xmlns:a16="http://schemas.microsoft.com/office/drawing/2014/main" id="{3F5CBD11-DC1B-D340-9D92-B7FB8CFBF076}"/>
              </a:ext>
            </a:extLst>
          </p:cNvPr>
          <p:cNvSpPr/>
          <p:nvPr/>
        </p:nvSpPr>
        <p:spPr>
          <a:xfrm>
            <a:off x="762000" y="4958342"/>
            <a:ext cx="2667000" cy="1443231"/>
          </a:xfrm>
          <a:prstGeom prst="halfFrame">
            <a:avLst>
              <a:gd name="adj1" fmla="val 7294"/>
              <a:gd name="adj2" fmla="val 731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1A01E-272B-924E-B58D-D0546AE83BAE}"/>
              </a:ext>
            </a:extLst>
          </p:cNvPr>
          <p:cNvSpPr txBox="1"/>
          <p:nvPr/>
        </p:nvSpPr>
        <p:spPr>
          <a:xfrm flipH="1">
            <a:off x="1062252" y="5204983"/>
            <a:ext cx="2076236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OBJECTIVE 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150C3-001A-DB43-B679-B07F8FAEFB01}"/>
              </a:ext>
            </a:extLst>
          </p:cNvPr>
          <p:cNvSpPr txBox="1"/>
          <p:nvPr/>
        </p:nvSpPr>
        <p:spPr>
          <a:xfrm flipH="1">
            <a:off x="1062251" y="5580314"/>
            <a:ext cx="2076237" cy="102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2000" spc="-10" dirty="0">
                <a:latin typeface="Poppins" pitchFamily="2" charset="77"/>
                <a:cs typeface="Poppins" pitchFamily="2" charset="77"/>
              </a:rPr>
              <a:t>Centralized repository for all spacecraft mission reports</a:t>
            </a:r>
            <a:r>
              <a:rPr lang="en-US" sz="1200" spc="-10" dirty="0"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7FC1BF00-3FDD-B847-B9EB-8A6E9D9B90F7}"/>
              </a:ext>
            </a:extLst>
          </p:cNvPr>
          <p:cNvSpPr/>
          <p:nvPr/>
        </p:nvSpPr>
        <p:spPr>
          <a:xfrm rot="10800000">
            <a:off x="762000" y="4438298"/>
            <a:ext cx="603251" cy="52004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14D88A-4102-8745-934A-EAD5A23EBE1C}"/>
              </a:ext>
            </a:extLst>
          </p:cNvPr>
          <p:cNvSpPr txBox="1"/>
          <p:nvPr/>
        </p:nvSpPr>
        <p:spPr>
          <a:xfrm flipH="1">
            <a:off x="914507" y="4476178"/>
            <a:ext cx="298236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spc="-15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32" name="Half Frame 31">
            <a:extLst>
              <a:ext uri="{FF2B5EF4-FFF2-40B4-BE49-F238E27FC236}">
                <a16:creationId xmlns:a16="http://schemas.microsoft.com/office/drawing/2014/main" id="{6A735156-4718-B048-ADF8-B17277C88229}"/>
              </a:ext>
            </a:extLst>
          </p:cNvPr>
          <p:cNvSpPr/>
          <p:nvPr/>
        </p:nvSpPr>
        <p:spPr>
          <a:xfrm>
            <a:off x="3429000" y="3997695"/>
            <a:ext cx="2667000" cy="1443231"/>
          </a:xfrm>
          <a:prstGeom prst="halfFrame">
            <a:avLst>
              <a:gd name="adj1" fmla="val 7294"/>
              <a:gd name="adj2" fmla="val 73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Poppins" pitchFamily="2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C20047-2D0A-6245-8926-4013D4995AAF}"/>
              </a:ext>
            </a:extLst>
          </p:cNvPr>
          <p:cNvSpPr txBox="1"/>
          <p:nvPr/>
        </p:nvSpPr>
        <p:spPr>
          <a:xfrm flipH="1">
            <a:off x="3729252" y="4244336"/>
            <a:ext cx="2076236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OBJECTIVE 02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07C90E-893F-884A-B86F-8D33ACACE7EA}"/>
              </a:ext>
            </a:extLst>
          </p:cNvPr>
          <p:cNvSpPr txBox="1"/>
          <p:nvPr/>
        </p:nvSpPr>
        <p:spPr>
          <a:xfrm flipH="1">
            <a:off x="3729251" y="4619667"/>
            <a:ext cx="2076237" cy="102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000" spc="-10" dirty="0">
                <a:latin typeface="Poppins" pitchFamily="2" charset="77"/>
              </a:rPr>
              <a:t>Secure storage, retrieval, and lifecycle management</a:t>
            </a: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D9AB1BA1-9421-0649-9FF3-B80E4429465E}"/>
              </a:ext>
            </a:extLst>
          </p:cNvPr>
          <p:cNvSpPr/>
          <p:nvPr/>
        </p:nvSpPr>
        <p:spPr>
          <a:xfrm rot="10800000">
            <a:off x="3429000" y="3477651"/>
            <a:ext cx="603251" cy="5200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14B1DF-FBF5-D949-99A6-265F7AD2F45D}"/>
              </a:ext>
            </a:extLst>
          </p:cNvPr>
          <p:cNvSpPr txBox="1"/>
          <p:nvPr/>
        </p:nvSpPr>
        <p:spPr>
          <a:xfrm flipH="1">
            <a:off x="3581507" y="3515532"/>
            <a:ext cx="298236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spc="-15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44" name="Half Frame 43">
            <a:extLst>
              <a:ext uri="{FF2B5EF4-FFF2-40B4-BE49-F238E27FC236}">
                <a16:creationId xmlns:a16="http://schemas.microsoft.com/office/drawing/2014/main" id="{70E1E646-A082-4843-B0DA-B5A68D16DB4F}"/>
              </a:ext>
            </a:extLst>
          </p:cNvPr>
          <p:cNvSpPr/>
          <p:nvPr/>
        </p:nvSpPr>
        <p:spPr>
          <a:xfrm>
            <a:off x="6096000" y="3037049"/>
            <a:ext cx="2667000" cy="1443231"/>
          </a:xfrm>
          <a:prstGeom prst="halfFrame">
            <a:avLst>
              <a:gd name="adj1" fmla="val 7294"/>
              <a:gd name="adj2" fmla="val 731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Poppins" pitchFamily="2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D4E459-C0A8-BE47-88A1-42EBEB2A8F93}"/>
              </a:ext>
            </a:extLst>
          </p:cNvPr>
          <p:cNvSpPr txBox="1"/>
          <p:nvPr/>
        </p:nvSpPr>
        <p:spPr>
          <a:xfrm flipH="1">
            <a:off x="6396252" y="3283690"/>
            <a:ext cx="2076236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OBJECTIVE 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E60736-1209-A941-8B1B-AB4141056B44}"/>
              </a:ext>
            </a:extLst>
          </p:cNvPr>
          <p:cNvSpPr txBox="1"/>
          <p:nvPr/>
        </p:nvSpPr>
        <p:spPr>
          <a:xfrm flipH="1">
            <a:off x="6396250" y="3659021"/>
            <a:ext cx="2076237" cy="794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000" spc="-10" dirty="0">
                <a:latin typeface="Poppins" pitchFamily="2" charset="77"/>
              </a:rPr>
              <a:t>Standardized reporting process across missions.</a:t>
            </a:r>
          </a:p>
        </p:txBody>
      </p:sp>
      <p:sp>
        <p:nvSpPr>
          <p:cNvPr id="47" name="Triangle 46">
            <a:extLst>
              <a:ext uri="{FF2B5EF4-FFF2-40B4-BE49-F238E27FC236}">
                <a16:creationId xmlns:a16="http://schemas.microsoft.com/office/drawing/2014/main" id="{D76FDFCA-D4A8-9049-8F6C-49139ED65F9D}"/>
              </a:ext>
            </a:extLst>
          </p:cNvPr>
          <p:cNvSpPr/>
          <p:nvPr/>
        </p:nvSpPr>
        <p:spPr>
          <a:xfrm rot="10800000">
            <a:off x="6096000" y="2517005"/>
            <a:ext cx="603251" cy="52004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itchFamily="2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2E5AEF-AE05-164F-B206-576CE51EE8BE}"/>
              </a:ext>
            </a:extLst>
          </p:cNvPr>
          <p:cNvSpPr txBox="1"/>
          <p:nvPr/>
        </p:nvSpPr>
        <p:spPr>
          <a:xfrm flipH="1">
            <a:off x="6248507" y="2554886"/>
            <a:ext cx="298236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spc="-15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50" name="Half Frame 49">
            <a:extLst>
              <a:ext uri="{FF2B5EF4-FFF2-40B4-BE49-F238E27FC236}">
                <a16:creationId xmlns:a16="http://schemas.microsoft.com/office/drawing/2014/main" id="{B598D456-E409-FB45-8F2B-51589D36EBFC}"/>
              </a:ext>
            </a:extLst>
          </p:cNvPr>
          <p:cNvSpPr/>
          <p:nvPr/>
        </p:nvSpPr>
        <p:spPr>
          <a:xfrm>
            <a:off x="8763000" y="2076403"/>
            <a:ext cx="2667000" cy="1443231"/>
          </a:xfrm>
          <a:prstGeom prst="halfFrame">
            <a:avLst>
              <a:gd name="adj1" fmla="val 7294"/>
              <a:gd name="adj2" fmla="val 731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Poppins" pitchFamily="2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960D06-5773-6C4B-A672-C31E3BBA58A6}"/>
              </a:ext>
            </a:extLst>
          </p:cNvPr>
          <p:cNvSpPr txBox="1"/>
          <p:nvPr/>
        </p:nvSpPr>
        <p:spPr>
          <a:xfrm flipH="1">
            <a:off x="9063252" y="2323044"/>
            <a:ext cx="2076236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OBJECTIVE 04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5CAACF-1CCD-024F-A097-EA7C77B4AD61}"/>
              </a:ext>
            </a:extLst>
          </p:cNvPr>
          <p:cNvSpPr txBox="1"/>
          <p:nvPr/>
        </p:nvSpPr>
        <p:spPr>
          <a:xfrm flipH="1">
            <a:off x="9063250" y="2698375"/>
            <a:ext cx="2076237" cy="794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000" spc="-10" dirty="0">
                <a:latin typeface="Poppins" pitchFamily="2" charset="77"/>
              </a:rPr>
              <a:t>Role-based and mission-based access control</a:t>
            </a: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4684A161-8567-CD43-A664-A6EC81781817}"/>
              </a:ext>
            </a:extLst>
          </p:cNvPr>
          <p:cNvSpPr/>
          <p:nvPr/>
        </p:nvSpPr>
        <p:spPr>
          <a:xfrm rot="10800000">
            <a:off x="8763000" y="1556359"/>
            <a:ext cx="603251" cy="52004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itchFamily="2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C98811-E1DE-CD42-8C74-69CC98E38565}"/>
              </a:ext>
            </a:extLst>
          </p:cNvPr>
          <p:cNvSpPr txBox="1"/>
          <p:nvPr/>
        </p:nvSpPr>
        <p:spPr>
          <a:xfrm flipH="1">
            <a:off x="8915507" y="1594240"/>
            <a:ext cx="298236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spc="-15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8414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5D46-6D7B-6485-C1F8-4282117F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i="0" dirty="0">
                <a:solidFill>
                  <a:srgbClr val="212121"/>
                </a:solidFill>
                <a:effectLst/>
                <a:latin typeface="Poppins"/>
              </a:rPr>
              <a:t>Repository Architecture &amp; Workflow</a:t>
            </a:r>
            <a:b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9A97-3890-3DF5-7841-7626C43D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3901" cy="4351338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US" b="1" i="0" dirty="0">
                <a:solidFill>
                  <a:srgbClr val="212121"/>
                </a:solidFill>
                <a:effectLst/>
                <a:latin typeface="wf_segoe-ui_normal"/>
              </a:rPr>
              <a:t>Repository Modules                                           </a:t>
            </a:r>
            <a:r>
              <a:rPr lang="en-IN" b="1" dirty="0">
                <a:solidFill>
                  <a:srgbClr val="212121"/>
                </a:solidFill>
                <a:latin typeface="wf_segoe-ui_normal"/>
              </a:rPr>
              <a:t>Report Lifecycle</a:t>
            </a:r>
            <a:endParaRPr lang="en-US" b="1" dirty="0">
              <a:solidFill>
                <a:srgbClr val="212121"/>
              </a:solidFill>
              <a:latin typeface="wf_segoe-ui_normal"/>
            </a:endParaRP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Report                                  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submission</a:t>
            </a: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Download</a:t>
            </a: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Approval Queue                                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reviewed</a:t>
            </a: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Archive Repository                                            </a:t>
            </a: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                          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Approved</a:t>
            </a:r>
          </a:p>
          <a:p>
            <a:pPr lvl="1">
              <a:buFont typeface="+mj-lt"/>
              <a:buAutoNum type="arabicPeriod"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 Logs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</a:t>
            </a:r>
            <a:r>
              <a:rPr lang="en-IN" sz="2000" dirty="0">
                <a:solidFill>
                  <a:srgbClr val="212121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Published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24B78A-4BA3-3B74-39E2-C10D931C80AB}"/>
              </a:ext>
            </a:extLst>
          </p:cNvPr>
          <p:cNvCxnSpPr>
            <a:cxnSpLocks/>
          </p:cNvCxnSpPr>
          <p:nvPr/>
        </p:nvCxnSpPr>
        <p:spPr>
          <a:xfrm>
            <a:off x="5110385" y="1871529"/>
            <a:ext cx="0" cy="43054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4B8318-E2C3-E4C1-1545-4181A694F2B2}"/>
              </a:ext>
            </a:extLst>
          </p:cNvPr>
          <p:cNvCxnSpPr/>
          <p:nvPr/>
        </p:nvCxnSpPr>
        <p:spPr>
          <a:xfrm>
            <a:off x="6332434" y="2615013"/>
            <a:ext cx="0" cy="333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5FA7FE-96C7-F58C-22ED-183886B8A742}"/>
              </a:ext>
            </a:extLst>
          </p:cNvPr>
          <p:cNvCxnSpPr/>
          <p:nvPr/>
        </p:nvCxnSpPr>
        <p:spPr>
          <a:xfrm>
            <a:off x="6332434" y="3426866"/>
            <a:ext cx="0" cy="376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90EB01-A9B1-DD8D-71C0-0ECD32492D1D}"/>
              </a:ext>
            </a:extLst>
          </p:cNvPr>
          <p:cNvCxnSpPr>
            <a:cxnSpLocks/>
          </p:cNvCxnSpPr>
          <p:nvPr/>
        </p:nvCxnSpPr>
        <p:spPr>
          <a:xfrm>
            <a:off x="6332434" y="4307084"/>
            <a:ext cx="0" cy="393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0ABDB6-5F95-F7FA-7D18-67725E3FEC45}"/>
              </a:ext>
            </a:extLst>
          </p:cNvPr>
          <p:cNvCxnSpPr/>
          <p:nvPr/>
        </p:nvCxnSpPr>
        <p:spPr>
          <a:xfrm>
            <a:off x="6332434" y="5050568"/>
            <a:ext cx="0" cy="41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33E519-9D03-24CE-B42C-F30C0DE6BF7A}"/>
              </a:ext>
            </a:extLst>
          </p:cNvPr>
          <p:cNvSpPr txBox="1"/>
          <p:nvPr/>
        </p:nvSpPr>
        <p:spPr>
          <a:xfrm>
            <a:off x="5362489" y="5452214"/>
            <a:ext cx="1939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Archived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FE9A87-92B3-663C-2E67-4CFEC1FD88DD}"/>
              </a:ext>
            </a:extLst>
          </p:cNvPr>
          <p:cNvCxnSpPr/>
          <p:nvPr/>
        </p:nvCxnSpPr>
        <p:spPr>
          <a:xfrm>
            <a:off x="7981772" y="1871529"/>
            <a:ext cx="0" cy="43054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93BAA5A-85E8-F1FD-BB73-FC6BA25D2357}"/>
              </a:ext>
            </a:extLst>
          </p:cNvPr>
          <p:cNvSpPr txBox="1"/>
          <p:nvPr/>
        </p:nvSpPr>
        <p:spPr>
          <a:xfrm>
            <a:off x="8383424" y="1905710"/>
            <a:ext cx="3614870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400" b="1" dirty="0">
                <a:solidFill>
                  <a:srgbClr val="212121"/>
                </a:solidFill>
                <a:latin typeface="Poppins"/>
              </a:rPr>
              <a:t>Supported Report Types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wf_segoe-ui_normal"/>
              </a:rPr>
              <a:t>Special Operations</a:t>
            </a:r>
            <a:r>
              <a:rPr lang="en-US" b="0" i="0" dirty="0">
                <a:solidFill>
                  <a:srgbClr val="212121"/>
                </a:solidFill>
                <a:effectLst/>
                <a:latin typeface="wf_segoe-ui_normal"/>
              </a:rPr>
              <a:t> Reports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wf_segoe-ui_normal"/>
              </a:rPr>
              <a:t>Anomaly Reports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wf_segoe-ui_normal"/>
              </a:rPr>
              <a:t>Anomaly Reports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wf_segoe-ui_normal"/>
              </a:rPr>
              <a:t>Study Reports</a:t>
            </a:r>
            <a:r>
              <a:rPr lang="en-US" b="0" i="0" dirty="0">
                <a:solidFill>
                  <a:srgbClr val="212121"/>
                </a:solidFill>
                <a:effectLst/>
                <a:latin typeface="wf_segoe-ui_normal"/>
              </a:rPr>
              <a:t> Reports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wf_segoe-ui_normal"/>
              </a:rPr>
              <a:t>Daily Report Reports</a:t>
            </a:r>
          </a:p>
        </p:txBody>
      </p:sp>
    </p:spTree>
    <p:extLst>
      <p:ext uri="{BB962C8B-B14F-4D97-AF65-F5344CB8AC3E}">
        <p14:creationId xmlns:p14="http://schemas.microsoft.com/office/powerpoint/2010/main" val="1398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8D45-D3E9-9C95-9036-26BE1730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  <a:t>Upload &amp; Version Management</a:t>
            </a:r>
            <a:b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BDA5-D28B-7712-20D1-F292C01B5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591" y="1281869"/>
            <a:ext cx="10368022" cy="5338002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  <a:t>Report Upload Metadata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Spacecraft Name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Mission Name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Category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Title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Date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Level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Number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Attachment (PDF/DOCX/XLSX)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5E881A-C879-F5DC-11D2-18F052CEF281}"/>
              </a:ext>
            </a:extLst>
          </p:cNvPr>
          <p:cNvCxnSpPr>
            <a:cxnSpLocks/>
          </p:cNvCxnSpPr>
          <p:nvPr/>
        </p:nvCxnSpPr>
        <p:spPr>
          <a:xfrm>
            <a:off x="6332434" y="1367327"/>
            <a:ext cx="0" cy="5252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B64DEB-FEB3-9038-61EF-D16130A34F59}"/>
              </a:ext>
            </a:extLst>
          </p:cNvPr>
          <p:cNvSpPr txBox="1"/>
          <p:nvPr/>
        </p:nvSpPr>
        <p:spPr>
          <a:xfrm>
            <a:off x="6417894" y="1290413"/>
            <a:ext cx="5172178" cy="4415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700" b="1" dirty="0">
                <a:solidFill>
                  <a:srgbClr val="212121"/>
                </a:solidFill>
                <a:latin typeface="wf_segoe-ui_normal"/>
              </a:rPr>
              <a:t>Naming Convention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SATNAME_REPORTTYPE_YYYYMMDD_V1.0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EOS08_DAILYOPS_20260622_V1.0.pdf</a:t>
            </a:r>
          </a:p>
          <a:p>
            <a:pPr marL="0"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700" b="1" dirty="0">
                <a:solidFill>
                  <a:srgbClr val="212121"/>
                </a:solidFill>
                <a:latin typeface="wf_segoe-ui_normal"/>
              </a:rPr>
              <a:t>Version Control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V1.0 Submitted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V1.1 Corrected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V2.0 Approved</a:t>
            </a:r>
          </a:p>
          <a:p>
            <a:pPr marL="0"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IN" sz="1700" b="1" dirty="0">
                <a:solidFill>
                  <a:srgbClr val="212121"/>
                </a:solidFill>
                <a:latin typeface="wf_segoe-ui_normal"/>
              </a:rPr>
              <a:t>Features: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version tracking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history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comments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sz="15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 capability</a:t>
            </a:r>
          </a:p>
        </p:txBody>
      </p:sp>
    </p:spTree>
    <p:extLst>
      <p:ext uri="{BB962C8B-B14F-4D97-AF65-F5344CB8AC3E}">
        <p14:creationId xmlns:p14="http://schemas.microsoft.com/office/powerpoint/2010/main" val="155330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3305-F8DF-7064-4988-DE6B2BED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  <a:t>Security &amp; Access Control</a:t>
            </a:r>
            <a:b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A401DF-1BF9-ECDC-A462-C28CBBBF7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519383"/>
              </p:ext>
            </p:extLst>
          </p:nvPr>
        </p:nvGraphicFramePr>
        <p:xfrm>
          <a:off x="2589213" y="2133600"/>
          <a:ext cx="8915400" cy="165820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5391704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955067777"/>
                    </a:ext>
                  </a:extLst>
                </a:gridCol>
              </a:tblGrid>
              <a:tr h="331186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highlight>
                            <a:srgbClr val="008080"/>
                          </a:highlight>
                        </a:rPr>
                        <a:t>Level</a:t>
                      </a:r>
                      <a:endParaRPr lang="en-IN" sz="1400" dirty="0">
                        <a:effectLst/>
                        <a:highlight>
                          <a:srgbClr val="008080"/>
                        </a:highlight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highlight>
                            <a:srgbClr val="008080"/>
                          </a:highlight>
                        </a:rPr>
                        <a:t>Access Scope</a:t>
                      </a:r>
                      <a:endParaRPr lang="en-IN" sz="1400">
                        <a:effectLst/>
                        <a:highlight>
                          <a:srgbClr val="008080"/>
                        </a:highlight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529923"/>
                  </a:ext>
                </a:extLst>
              </a:tr>
              <a:tr h="331186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ISRO level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All SPOA Users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437691"/>
                  </a:ext>
                </a:extLst>
              </a:tr>
              <a:tr h="331186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Mission Team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Mission Team Members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21148"/>
                  </a:ext>
                </a:extLst>
              </a:tr>
              <a:tr h="331186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Directorate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OD/SOM Directors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74325"/>
                  </a:ext>
                </a:extLst>
              </a:tr>
              <a:tr h="331186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Restricted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Authorized Personnel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7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73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6C89-F4E4-772D-BE9B-8B94CFCC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723ED2-4E43-E785-A5F7-04AA62880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162888"/>
              </p:ext>
            </p:extLst>
          </p:nvPr>
        </p:nvGraphicFramePr>
        <p:xfrm>
          <a:off x="2589213" y="1991167"/>
          <a:ext cx="8915400" cy="284575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97825504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54181954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78717788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5836989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0660907"/>
                    </a:ext>
                  </a:extLst>
                </a:gridCol>
              </a:tblGrid>
              <a:tr h="474292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Role</a:t>
                      </a:r>
                      <a:endParaRPr lang="en-IN" sz="1400">
                        <a:effectLst/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Upload</a:t>
                      </a:r>
                      <a:endParaRPr lang="en-IN" sz="1400">
                        <a:effectLst/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Approve</a:t>
                      </a:r>
                      <a:endParaRPr lang="en-IN" sz="1400">
                        <a:effectLst/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Delete</a:t>
                      </a:r>
                      <a:endParaRPr lang="en-IN" sz="1400">
                        <a:effectLst/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Manage Users</a:t>
                      </a:r>
                      <a:endParaRPr lang="en-IN" sz="1400">
                        <a:effectLst/>
                      </a:endParaRP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607179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Controller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68799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Operations Lead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44595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Mission Director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9774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SPOA Admin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✓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66053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Read Only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highlight>
                            <a:srgbClr val="008080"/>
                          </a:highlight>
                        </a:rPr>
                        <a:t>✗</a:t>
                      </a:r>
                    </a:p>
                  </a:txBody>
                  <a:tcPr marL="88710" marR="88710" marT="59140" marB="591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2661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58E81D9-BFBA-7506-23FF-3070886C6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212121"/>
                </a:solidFill>
                <a:effectLst/>
                <a:latin typeface="wf_segoe-ui_normal"/>
              </a:rPr>
              <a:t>Role-Based Access Control (RBAC)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5FB20-9742-128D-6628-0E2FC5A3EF55}"/>
              </a:ext>
            </a:extLst>
          </p:cNvPr>
          <p:cNvSpPr txBox="1"/>
          <p:nvPr/>
        </p:nvSpPr>
        <p:spPr>
          <a:xfrm>
            <a:off x="2768837" y="4953001"/>
            <a:ext cx="8075776" cy="14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212121"/>
                </a:solidFill>
                <a:effectLst/>
                <a:latin typeface="wf_segoe-ui_normal"/>
              </a:rPr>
              <a:t>Mission-Based Access Control (MBAC)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121"/>
                </a:solidFill>
                <a:effectLst/>
                <a:latin typeface="wf_segoe-ui_normal"/>
              </a:rPr>
              <a:t>EOS-08 team → EOS-08 reports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212121"/>
                </a:solidFill>
                <a:effectLst/>
                <a:latin typeface="wf_segoe-ui_normal"/>
              </a:rPr>
              <a:t>XPoSat</a:t>
            </a:r>
            <a:r>
              <a:rPr lang="en-IN" b="0" i="0" dirty="0">
                <a:solidFill>
                  <a:srgbClr val="212121"/>
                </a:solidFill>
                <a:effectLst/>
                <a:latin typeface="wf_segoe-ui_normal"/>
              </a:rPr>
              <a:t> team →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wf_segoe-ui_normal"/>
              </a:rPr>
              <a:t>XPoSat</a:t>
            </a:r>
            <a:r>
              <a:rPr lang="en-IN" b="0" i="0" dirty="0">
                <a:solidFill>
                  <a:srgbClr val="212121"/>
                </a:solidFill>
                <a:effectLst/>
                <a:latin typeface="wf_segoe-ui_normal"/>
              </a:rPr>
              <a:t> reports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12121"/>
                </a:solidFill>
                <a:effectLst/>
                <a:latin typeface="wf_segoe-ui_normal"/>
              </a:rPr>
              <a:t>Cartosat-3 team → Cartosat-3 reports only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51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86FF-F3CC-4FAC-9A2B-C15E7D5B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12121"/>
                </a:solidFill>
                <a:effectLst/>
                <a:latin typeface="wf_segoe-ui_normal"/>
              </a:rPr>
              <a:t>Search, Audit &amp; System Architecture</a:t>
            </a:r>
            <a:br>
              <a:rPr lang="en-US" b="1" i="0" dirty="0">
                <a:solidFill>
                  <a:srgbClr val="212121"/>
                </a:solidFill>
                <a:effectLst/>
                <a:latin typeface="wf_segoe-ui_norma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2ED-2374-A3C5-C863-07C4732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39140"/>
            <a:ext cx="8915400" cy="5486400"/>
          </a:xfrm>
        </p:spPr>
        <p:txBody>
          <a:bodyPr>
            <a:normAutofit fontScale="25000" lnSpcReduction="20000"/>
          </a:bodyPr>
          <a:lstStyle/>
          <a:p>
            <a:pPr lvl="1">
              <a:buFont typeface="+mj-lt"/>
              <a:buAutoNum type="arabicPeriod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Search Filters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Spacecraft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Range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Type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Status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Number</a:t>
            </a:r>
          </a:p>
          <a:p>
            <a:pPr lvl="1">
              <a:buFont typeface="+mj-lt"/>
              <a:buAutoNum type="arabicPeriod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7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Denied Events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1859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138</TotalTime>
  <Words>291</Words>
  <Application>Microsoft Office PowerPoint</Application>
  <PresentationFormat>Widescreen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Century Gothic</vt:lpstr>
      <vt:lpstr>Georgia</vt:lpstr>
      <vt:lpstr>Poppins</vt:lpstr>
      <vt:lpstr>Times New Roman</vt:lpstr>
      <vt:lpstr>wf_segoe-ui_normal</vt:lpstr>
      <vt:lpstr>Wingdings</vt:lpstr>
      <vt:lpstr>Wingdings 3</vt:lpstr>
      <vt:lpstr>Wisp</vt:lpstr>
      <vt:lpstr>SPOA Reports Webpage</vt:lpstr>
      <vt:lpstr>PowerPoint Presentation</vt:lpstr>
      <vt:lpstr>Repository Architecture &amp; Workflow </vt:lpstr>
      <vt:lpstr>Upload &amp; Version Management </vt:lpstr>
      <vt:lpstr>Security &amp; Access Control </vt:lpstr>
      <vt:lpstr>PowerPoint Presentation</vt:lpstr>
      <vt:lpstr>Search, Audit &amp; System 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kumar sharma</dc:creator>
  <cp:lastModifiedBy>ashish kumar sharma</cp:lastModifiedBy>
  <cp:revision>1</cp:revision>
  <dcterms:created xsi:type="dcterms:W3CDTF">2026-06-23T03:36:24Z</dcterms:created>
  <dcterms:modified xsi:type="dcterms:W3CDTF">2026-06-23T05:54:52Z</dcterms:modified>
</cp:coreProperties>
</file>